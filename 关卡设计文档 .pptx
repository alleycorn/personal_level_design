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Color: '#FFFFFF', padding: '32px 56px', fontFamily: &quot;'Microsoft YaHei', '微软雅黑', sans-serif&quot;, flexDirection: 'column' }}&gt;&#10;    {/* 页面标题 */}&#10;    &lt;Text style={{ fontSize: 30, fontWeight: 'bold', color: '#1A1A1A' }}&gt;关卡概况&lt;/Text&gt;&#10;&#10;    {/* 上半区：信息表 + 总地图占位 */}&#10;    &lt;Box style={{ flexDirection: 'row', gap: 28, marginTop: 16 }}&gt;&#10;        {/* 左侧：信息表 */}&#10;        &lt;Box style={{ width: 640, flexDirection: 'column', border: '1px solid #1A1A1A' }}&gt;&#10;            {/* 基本信息组：5行 */}&#10;            &lt;Box style={{ flexDirection: 'row', height: 200 }}&gt;&#10;                &lt;Box style={{ width: 110, backgroundColor: '#FFC000', justifyContent: 'center', alignItems: 'center', borderRight: '1px solid #1A1A1A' }}&gt;&#10;                    &lt;Text style={{ fontSize: 20, fontWeight: 'bold', color: '#1A1A1A', letterSpacing: 4 }}&gt;基本信息&lt;/Text&gt;&#10;                &lt;/Box&gt;&#10;                &lt;Box style={{ flex: 1, flexDirection: 'column' }}&gt;&#10;                    {['关卡名称', '关卡类型', '玩法标签', '关卡区域', '场景关键词'].map((label, i) =&gt; (&#10;                        &lt;Box key={i} style={{ height: 40, flexDirection: 'row', borderBottom: i &lt; 4 ? '1px solid #1A1A1A' : 'none' }}&gt;&#10;                            &lt;Box style={{ width: 150, justifyContent: 'center', alignItems: 'center', borderRight: '1px solid #1A1A1A', backgroundColor: '#F2F2F2' }}&gt;&#10;                                &lt;Text style={{ fontSize: 15, fontWeight: 'bold', color: '#1A1A1A' }}&gt;{label}&lt;/Text&gt;&#10;                            &lt;/Box&gt;&#10;                            &lt;Box style={{ flex: 1, justifyContent: 'center', alignItems: 'center' }}&gt;&#10;                                &lt;Text style={{ fontSize: 14, color: '#9CA3AF' }}&gt;【{label}】&lt;/Text&gt;&#10;                            &lt;/Box&gt;&#10;                        &lt;/Box&gt;&#10;                    ))}&#10;                &lt;/Box&gt;&#10;            &lt;/Box&gt;&#10;            {/* 主要内容组：3行 */}&#10;            &lt;Box style={{ flexDirection: 'row', height: 120, borderTop: '1px solid #1A1A1A' }}&gt;&#10;                &lt;Box style={{ width: 110, backgroundColor: '#FFC000', justifyContent: 'center', alignItems: 'center', borderRight: '1px solid #1A1A1A' }}&gt;&#10;                    &lt;Text style={{ fontSize: 20, fontWeight: 'bold', color: '#1A1A1A', letterSpacing: 4 }}&gt;主要内容&lt;/Text&gt;&#10;                &lt;/Box&gt;&#10;                &lt;Box style={{ flex: 1, flexDirection: 'column' }}&gt;&#10;                    {['关卡叙事', '体验内容', '预计时长'].map((label, i) =&gt; (&#10;                        &lt;Box key={i} style={{ height: 40, flexDirection: 'row', borderBottom: i &lt; 2 ? '1px solid #1A1A1A' : 'none' }}&gt;&#10;                            &lt;Box style={{ width: 150, justifyContent: 'center', alignItems: 'center', borderRight: '1px solid #1A1A1A', backgroundColor: '#F2F2F2' }}&gt;&#10;                                &lt;Text style={{ fontSize: 15, fontWeight: 'bold', color: '#1A1A1A' }}&gt;{label}&lt;/Text&gt;&#10;                            &lt;/Box&gt;&#10;                            &lt;Box style={{ flex: 1, justifyContent: 'center', alignItems: 'center' }}&gt;&#10;                                &lt;Text style={{ fontSize: 14, color: '#9CA3AF' }}&gt;【{label}】&lt;/Text&gt;&#10;                            &lt;/Box&gt;&#10;                        &lt;/Box&gt;&#10;                    ))}&#10;                &lt;/Box&gt;&#10;            &lt;/Box&gt;&#10;        &lt;/Box&gt;&#10;&#10;        {/* 右侧：总地图占位 */}&#10;        &lt;Box style={{ flex: 1, flexDirection: 'column', gap: 8 }}&gt;&#10;            &lt;Text style={{ fontSize: 16, fontWeight: 'bold', color: '#1A1A1A', textAlign: 'center' }}&gt;总地图【（不含地下）】&lt;/Text&gt;&#10;            &lt;Box style={{ flex: 1, border: '2px dashed #C4C9D0', borderRadius: 8, backgroundColor: '#FAFBFC', justifyContent: 'center', alignItems: 'center' }}&gt;&#10;                &lt;Text style={{ fontSize: 15, color: '#9CA3AF' }}&gt;在此插入关卡总地图&lt;/Text&gt;&#10;                &lt;Text style={{ fontSize: 13, color: '#C4C9D0', marginTop: 8 }}&gt;（俯视布局图 / 游戏内截图，可加图例）&lt;/Text&gt;&#10;            &lt;/Box&gt;&#10;        &lt;/Box&gt;&#10;    &lt;/Box&gt;&#10;&#10;    {/* 关卡描述 */}&#10;    &lt;Box style={{ flexDirection: 'column', gap: 6, marginTop: 20 }}&gt;&#10;        &lt;Text style={{ fontSize: 24, fontWeight: 'bold', color: '#1A1A1A' }}&gt;关卡描述&lt;/Text&gt;&#10;        &lt;Text style={{ fontSize: 18, fontWeight: 'bold', color: '#1A1A1A', marginTop: 6 }}&gt;剧情设定&lt;/Text&gt;&#10;        &lt;Text style={{ fontSize: 15, color: '#9CA3AF', lineHeight: 1.6, marginTop: 4 }}&gt;&#10;            【在此填写剧情设定：世界观背景、关键事件、势力与角色关系，&lt;br /&gt;为什么会有这座关卡，2-4 行即可】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2899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33400" y="304800"/>
            <a:ext cx="11125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1A1A"/>
                </a:solidFill>
                <a:latin typeface="Microsoft YaHei"/>
                <a:ea typeface="Microsoft YaHei"/>
              </a:rPr>
              <a:t>关卡概况</a:t>
            </a:r>
            <a:endParaRPr/>
          </a:p>
        </p:txBody>
      </p:sp>
      <p:sp>
        <p:nvSpPr>
          <p:cNvPr id="4" name="矩形 3"/>
          <p:cNvSpPr/>
          <p:nvPr/>
        </p:nvSpPr>
        <p:spPr>
          <a:xfrm>
            <a:off x="533400" y="800100"/>
            <a:ext cx="6096000" cy="304800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/>
          <p:cNvSpPr/>
          <p:nvPr/>
        </p:nvSpPr>
        <p:spPr>
          <a:xfrm>
            <a:off x="533400" y="800100"/>
            <a:ext cx="1038225" cy="19050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任意多边形: 形状 5"/>
          <p:cNvSpPr/>
          <p:nvPr/>
        </p:nvSpPr>
        <p:spPr>
          <a:xfrm>
            <a:off x="533400" y="800100"/>
            <a:ext cx="1047750" cy="1905000"/>
          </a:xfrm>
          <a:custGeom>
            <a:avLst/>
            <a:gdLst/>
            <a:ahLst/>
            <a:cxnLst/>
            <a:rect l="0" t="0" r="0" b="0"/>
            <a:pathLst>
              <a:path w="110" h="200">
                <a:moveTo>
                  <a:pt x="109" y="0"/>
                </a:moveTo>
                <a:lnTo>
                  <a:pt x="110" y="0"/>
                </a:lnTo>
                <a:lnTo>
                  <a:pt x="110" y="200"/>
                </a:lnTo>
                <a:lnTo>
                  <a:pt x="109" y="20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00075" y="1638300"/>
            <a:ext cx="914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 spc="300">
                <a:solidFill>
                  <a:srgbClr val="1A1A1A"/>
                </a:solidFill>
                <a:latin typeface="Microsoft YaHei"/>
                <a:ea typeface="Microsoft YaHei"/>
              </a:rPr>
              <a:t>基本信息</a:t>
            </a:r>
            <a:endParaRPr/>
          </a:p>
        </p:txBody>
      </p:sp>
      <p:sp>
        <p:nvSpPr>
          <p:cNvPr id="8" name="任意多边形: 形状 7"/>
          <p:cNvSpPr/>
          <p:nvPr/>
        </p:nvSpPr>
        <p:spPr>
          <a:xfrm>
            <a:off x="1581150" y="800100"/>
            <a:ext cx="5048250" cy="381000"/>
          </a:xfrm>
          <a:custGeom>
            <a:avLst/>
            <a:gdLst/>
            <a:ahLst/>
            <a:cxnLst/>
            <a:rect l="0" t="0" r="0" b="0"/>
            <a:pathLst>
              <a:path w="530" h="40">
                <a:moveTo>
                  <a:pt x="0" y="39"/>
                </a:moveTo>
                <a:lnTo>
                  <a:pt x="530" y="39"/>
                </a:lnTo>
                <a:lnTo>
                  <a:pt x="53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矩形 8"/>
          <p:cNvSpPr/>
          <p:nvPr/>
        </p:nvSpPr>
        <p:spPr>
          <a:xfrm>
            <a:off x="1581150" y="800100"/>
            <a:ext cx="1419225" cy="3714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任意多边形: 形状 9"/>
          <p:cNvSpPr/>
          <p:nvPr/>
        </p:nvSpPr>
        <p:spPr>
          <a:xfrm>
            <a:off x="1581150" y="800100"/>
            <a:ext cx="1428750" cy="371475"/>
          </a:xfrm>
          <a:custGeom>
            <a:avLst/>
            <a:gdLst/>
            <a:ahLst/>
            <a:cxnLst/>
            <a:rect l="0" t="0" r="0" b="0"/>
            <a:pathLst>
              <a:path w="150" h="39">
                <a:moveTo>
                  <a:pt x="149" y="0"/>
                </a:moveTo>
                <a:lnTo>
                  <a:pt x="150" y="0"/>
                </a:lnTo>
                <a:lnTo>
                  <a:pt x="150" y="39"/>
                </a:lnTo>
                <a:lnTo>
                  <a:pt x="149" y="3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2009775" y="9048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关卡名称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4419600" y="90487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1050" dirty="0">
                <a:latin typeface="Microsoft YaHei"/>
                <a:ea typeface="Microsoft YaHei"/>
              </a:rPr>
              <a:t>《</a:t>
            </a:r>
            <a:r>
              <a:rPr lang="zh-CN" altLang="en-US" sz="1050" dirty="0">
                <a:latin typeface="Microsoft YaHei"/>
                <a:ea typeface="Microsoft YaHei"/>
              </a:rPr>
              <a:t>寂钟教堂</a:t>
            </a:r>
            <a:r>
              <a:rPr lang="en-US" altLang="zh-CN" sz="1050" dirty="0">
                <a:latin typeface="Microsoft YaHei"/>
                <a:ea typeface="Microsoft YaHei"/>
              </a:rPr>
              <a:t>》</a:t>
            </a:r>
            <a:endParaRPr dirty="0"/>
          </a:p>
        </p:txBody>
      </p:sp>
      <p:sp>
        <p:nvSpPr>
          <p:cNvPr id="13" name="任意多边形: 形状 12"/>
          <p:cNvSpPr/>
          <p:nvPr/>
        </p:nvSpPr>
        <p:spPr>
          <a:xfrm>
            <a:off x="1581150" y="1181100"/>
            <a:ext cx="5048250" cy="381000"/>
          </a:xfrm>
          <a:custGeom>
            <a:avLst/>
            <a:gdLst/>
            <a:ahLst/>
            <a:cxnLst/>
            <a:rect l="0" t="0" r="0" b="0"/>
            <a:pathLst>
              <a:path w="530" h="40">
                <a:moveTo>
                  <a:pt x="0" y="39"/>
                </a:moveTo>
                <a:lnTo>
                  <a:pt x="530" y="39"/>
                </a:lnTo>
                <a:lnTo>
                  <a:pt x="53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矩形 13"/>
          <p:cNvSpPr/>
          <p:nvPr/>
        </p:nvSpPr>
        <p:spPr>
          <a:xfrm>
            <a:off x="1581150" y="1181100"/>
            <a:ext cx="1419225" cy="3714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任意多边形: 形状 14"/>
          <p:cNvSpPr/>
          <p:nvPr/>
        </p:nvSpPr>
        <p:spPr>
          <a:xfrm>
            <a:off x="1581150" y="1181100"/>
            <a:ext cx="1428750" cy="371475"/>
          </a:xfrm>
          <a:custGeom>
            <a:avLst/>
            <a:gdLst/>
            <a:ahLst/>
            <a:cxnLst/>
            <a:rect l="0" t="0" r="0" b="0"/>
            <a:pathLst>
              <a:path w="150" h="39">
                <a:moveTo>
                  <a:pt x="149" y="0"/>
                </a:moveTo>
                <a:lnTo>
                  <a:pt x="150" y="0"/>
                </a:lnTo>
                <a:lnTo>
                  <a:pt x="150" y="39"/>
                </a:lnTo>
                <a:lnTo>
                  <a:pt x="149" y="3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2009775" y="12858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关卡类型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419600" y="128587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支线线性</a:t>
            </a:r>
            <a:r>
              <a:rPr lang="en-US" altLang="zh-CN" sz="1050" dirty="0">
                <a:latin typeface="Microsoft YaHei"/>
                <a:ea typeface="Microsoft YaHei"/>
              </a:rPr>
              <a:t>+</a:t>
            </a:r>
            <a:r>
              <a:rPr lang="zh-CN" altLang="en-US" sz="1050" dirty="0">
                <a:latin typeface="Microsoft YaHei"/>
                <a:ea typeface="Microsoft YaHei"/>
              </a:rPr>
              <a:t>箱庭</a:t>
            </a:r>
            <a:endParaRPr dirty="0"/>
          </a:p>
        </p:txBody>
      </p:sp>
      <p:sp>
        <p:nvSpPr>
          <p:cNvPr id="18" name="任意多边形: 形状 17"/>
          <p:cNvSpPr/>
          <p:nvPr/>
        </p:nvSpPr>
        <p:spPr>
          <a:xfrm>
            <a:off x="1581150" y="1562100"/>
            <a:ext cx="5048250" cy="381000"/>
          </a:xfrm>
          <a:custGeom>
            <a:avLst/>
            <a:gdLst/>
            <a:ahLst/>
            <a:cxnLst/>
            <a:rect l="0" t="0" r="0" b="0"/>
            <a:pathLst>
              <a:path w="530" h="40">
                <a:moveTo>
                  <a:pt x="0" y="39"/>
                </a:moveTo>
                <a:lnTo>
                  <a:pt x="530" y="39"/>
                </a:lnTo>
                <a:lnTo>
                  <a:pt x="53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1581150" y="1562100"/>
            <a:ext cx="1419225" cy="3714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任意多边形: 形状 19"/>
          <p:cNvSpPr/>
          <p:nvPr/>
        </p:nvSpPr>
        <p:spPr>
          <a:xfrm>
            <a:off x="1581150" y="1562100"/>
            <a:ext cx="1428750" cy="371475"/>
          </a:xfrm>
          <a:custGeom>
            <a:avLst/>
            <a:gdLst/>
            <a:ahLst/>
            <a:cxnLst/>
            <a:rect l="0" t="0" r="0" b="0"/>
            <a:pathLst>
              <a:path w="150" h="39">
                <a:moveTo>
                  <a:pt x="149" y="0"/>
                </a:moveTo>
                <a:lnTo>
                  <a:pt x="150" y="0"/>
                </a:lnTo>
                <a:lnTo>
                  <a:pt x="150" y="39"/>
                </a:lnTo>
                <a:lnTo>
                  <a:pt x="149" y="3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2009775" y="16668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玩法标签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419600" y="166687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探索</a:t>
            </a:r>
            <a:r>
              <a:rPr lang="en-US" altLang="zh-CN" sz="1050" dirty="0">
                <a:latin typeface="Microsoft YaHei"/>
                <a:ea typeface="Microsoft YaHei"/>
              </a:rPr>
              <a:t>+</a:t>
            </a:r>
            <a:r>
              <a:rPr lang="zh-CN" altLang="en-US" sz="1050" dirty="0">
                <a:latin typeface="Microsoft YaHei"/>
                <a:ea typeface="Microsoft YaHei"/>
              </a:rPr>
              <a:t>战斗</a:t>
            </a:r>
            <a:endParaRPr dirty="0"/>
          </a:p>
        </p:txBody>
      </p:sp>
      <p:sp>
        <p:nvSpPr>
          <p:cNvPr id="23" name="任意多边形: 形状 22"/>
          <p:cNvSpPr/>
          <p:nvPr/>
        </p:nvSpPr>
        <p:spPr>
          <a:xfrm>
            <a:off x="1581150" y="1943100"/>
            <a:ext cx="5048250" cy="381000"/>
          </a:xfrm>
          <a:custGeom>
            <a:avLst/>
            <a:gdLst/>
            <a:ahLst/>
            <a:cxnLst/>
            <a:rect l="0" t="0" r="0" b="0"/>
            <a:pathLst>
              <a:path w="530" h="40">
                <a:moveTo>
                  <a:pt x="0" y="39"/>
                </a:moveTo>
                <a:lnTo>
                  <a:pt x="530" y="39"/>
                </a:lnTo>
                <a:lnTo>
                  <a:pt x="53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矩形 23"/>
          <p:cNvSpPr/>
          <p:nvPr/>
        </p:nvSpPr>
        <p:spPr>
          <a:xfrm>
            <a:off x="1581150" y="1943100"/>
            <a:ext cx="1419225" cy="3714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任意多边形: 形状 24"/>
          <p:cNvSpPr/>
          <p:nvPr/>
        </p:nvSpPr>
        <p:spPr>
          <a:xfrm>
            <a:off x="1581150" y="1943100"/>
            <a:ext cx="1428750" cy="371475"/>
          </a:xfrm>
          <a:custGeom>
            <a:avLst/>
            <a:gdLst/>
            <a:ahLst/>
            <a:cxnLst/>
            <a:rect l="0" t="0" r="0" b="0"/>
            <a:pathLst>
              <a:path w="150" h="39">
                <a:moveTo>
                  <a:pt x="149" y="0"/>
                </a:moveTo>
                <a:lnTo>
                  <a:pt x="150" y="0"/>
                </a:lnTo>
                <a:lnTo>
                  <a:pt x="150" y="39"/>
                </a:lnTo>
                <a:lnTo>
                  <a:pt x="149" y="3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2009775" y="20478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关卡区域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3256201" y="2029160"/>
            <a:ext cx="3181350" cy="203594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出生点祭坛，教学洞窟，礼拜堂庭院，地下墓地，教堂</a:t>
            </a:r>
            <a:endParaRPr dirty="0"/>
          </a:p>
        </p:txBody>
      </p:sp>
      <p:sp>
        <p:nvSpPr>
          <p:cNvPr id="28" name="矩形 27"/>
          <p:cNvSpPr/>
          <p:nvPr/>
        </p:nvSpPr>
        <p:spPr>
          <a:xfrm>
            <a:off x="1581150" y="2324100"/>
            <a:ext cx="1419225" cy="381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任意多边形: 形状 28"/>
          <p:cNvSpPr/>
          <p:nvPr/>
        </p:nvSpPr>
        <p:spPr>
          <a:xfrm>
            <a:off x="1581150" y="2324100"/>
            <a:ext cx="1428750" cy="381000"/>
          </a:xfrm>
          <a:custGeom>
            <a:avLst/>
            <a:gdLst/>
            <a:ahLst/>
            <a:cxnLst/>
            <a:rect l="0" t="0" r="0" b="0"/>
            <a:pathLst>
              <a:path w="150" h="40">
                <a:moveTo>
                  <a:pt x="149" y="0"/>
                </a:moveTo>
                <a:lnTo>
                  <a:pt x="150" y="0"/>
                </a:lnTo>
                <a:lnTo>
                  <a:pt x="150" y="40"/>
                </a:lnTo>
                <a:lnTo>
                  <a:pt x="149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933575" y="2428875"/>
            <a:ext cx="714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场景关键词</a:t>
            </a:r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3455197" y="2442620"/>
            <a:ext cx="3194602" cy="252412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钟，祭坛，十字架，棺材，教堂，回忆，救赎</a:t>
            </a:r>
            <a:endParaRPr dirty="0"/>
          </a:p>
        </p:txBody>
      </p:sp>
      <p:sp>
        <p:nvSpPr>
          <p:cNvPr id="32" name="任意多边形: 形状 31"/>
          <p:cNvSpPr/>
          <p:nvPr/>
        </p:nvSpPr>
        <p:spPr>
          <a:xfrm>
            <a:off x="533400" y="2705100"/>
            <a:ext cx="6096000" cy="1143000"/>
          </a:xfrm>
          <a:custGeom>
            <a:avLst/>
            <a:gdLst/>
            <a:ahLst/>
            <a:cxnLst/>
            <a:rect l="0" t="0" r="0" b="0"/>
            <a:pathLst>
              <a:path w="640" h="120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矩形 32"/>
          <p:cNvSpPr/>
          <p:nvPr/>
        </p:nvSpPr>
        <p:spPr>
          <a:xfrm>
            <a:off x="533400" y="2714625"/>
            <a:ext cx="1038225" cy="1133475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任意多边形: 形状 33"/>
          <p:cNvSpPr/>
          <p:nvPr/>
        </p:nvSpPr>
        <p:spPr>
          <a:xfrm>
            <a:off x="533400" y="2714625"/>
            <a:ext cx="1047750" cy="1133475"/>
          </a:xfrm>
          <a:custGeom>
            <a:avLst/>
            <a:gdLst/>
            <a:ahLst/>
            <a:cxnLst/>
            <a:rect l="0" t="0" r="0" b="0"/>
            <a:pathLst>
              <a:path w="110" h="119">
                <a:moveTo>
                  <a:pt x="109" y="0"/>
                </a:moveTo>
                <a:lnTo>
                  <a:pt x="110" y="0"/>
                </a:lnTo>
                <a:lnTo>
                  <a:pt x="110" y="119"/>
                </a:lnTo>
                <a:lnTo>
                  <a:pt x="109" y="11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600075" y="3171825"/>
            <a:ext cx="914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 spc="300">
                <a:solidFill>
                  <a:srgbClr val="1A1A1A"/>
                </a:solidFill>
                <a:latin typeface="Microsoft YaHei"/>
                <a:ea typeface="Microsoft YaHei"/>
              </a:rPr>
              <a:t>主要内容</a:t>
            </a:r>
            <a:endParaRPr/>
          </a:p>
        </p:txBody>
      </p:sp>
      <p:sp>
        <p:nvSpPr>
          <p:cNvPr id="36" name="任意多边形: 形状 35"/>
          <p:cNvSpPr/>
          <p:nvPr/>
        </p:nvSpPr>
        <p:spPr>
          <a:xfrm>
            <a:off x="1581150" y="2714625"/>
            <a:ext cx="5048250" cy="381000"/>
          </a:xfrm>
          <a:custGeom>
            <a:avLst/>
            <a:gdLst/>
            <a:ahLst/>
            <a:cxnLst/>
            <a:rect l="0" t="0" r="0" b="0"/>
            <a:pathLst>
              <a:path w="530" h="40">
                <a:moveTo>
                  <a:pt x="0" y="39"/>
                </a:moveTo>
                <a:lnTo>
                  <a:pt x="530" y="39"/>
                </a:lnTo>
                <a:lnTo>
                  <a:pt x="53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矩形 36"/>
          <p:cNvSpPr/>
          <p:nvPr/>
        </p:nvSpPr>
        <p:spPr>
          <a:xfrm>
            <a:off x="1581150" y="2714625"/>
            <a:ext cx="1419225" cy="3714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任意多边形: 形状 37"/>
          <p:cNvSpPr/>
          <p:nvPr/>
        </p:nvSpPr>
        <p:spPr>
          <a:xfrm>
            <a:off x="1581150" y="2714625"/>
            <a:ext cx="1428750" cy="371475"/>
          </a:xfrm>
          <a:custGeom>
            <a:avLst/>
            <a:gdLst/>
            <a:ahLst/>
            <a:cxnLst/>
            <a:rect l="0" t="0" r="0" b="0"/>
            <a:pathLst>
              <a:path w="150" h="39">
                <a:moveTo>
                  <a:pt x="149" y="0"/>
                </a:moveTo>
                <a:lnTo>
                  <a:pt x="150" y="0"/>
                </a:lnTo>
                <a:lnTo>
                  <a:pt x="150" y="39"/>
                </a:lnTo>
                <a:lnTo>
                  <a:pt x="149" y="3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2009775" y="281940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关卡叙事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3276600" y="2819400"/>
            <a:ext cx="3451777" cy="18628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通过各种场景布置与怪物分布进行主线的叙述和表达</a:t>
            </a:r>
            <a:endParaRPr dirty="0"/>
          </a:p>
        </p:txBody>
      </p:sp>
      <p:sp>
        <p:nvSpPr>
          <p:cNvPr id="41" name="任意多边形: 形状 40"/>
          <p:cNvSpPr/>
          <p:nvPr/>
        </p:nvSpPr>
        <p:spPr>
          <a:xfrm>
            <a:off x="1581150" y="3095625"/>
            <a:ext cx="5048250" cy="381000"/>
          </a:xfrm>
          <a:custGeom>
            <a:avLst/>
            <a:gdLst/>
            <a:ahLst/>
            <a:cxnLst/>
            <a:rect l="0" t="0" r="0" b="0"/>
            <a:pathLst>
              <a:path w="530" h="40">
                <a:moveTo>
                  <a:pt x="0" y="39"/>
                </a:moveTo>
                <a:lnTo>
                  <a:pt x="530" y="39"/>
                </a:lnTo>
                <a:lnTo>
                  <a:pt x="53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矩形 41"/>
          <p:cNvSpPr/>
          <p:nvPr/>
        </p:nvSpPr>
        <p:spPr>
          <a:xfrm>
            <a:off x="1581150" y="3095625"/>
            <a:ext cx="1419225" cy="3714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任意多边形: 形状 42"/>
          <p:cNvSpPr/>
          <p:nvPr/>
        </p:nvSpPr>
        <p:spPr>
          <a:xfrm>
            <a:off x="1581150" y="3095625"/>
            <a:ext cx="1428750" cy="371475"/>
          </a:xfrm>
          <a:custGeom>
            <a:avLst/>
            <a:gdLst/>
            <a:ahLst/>
            <a:cxnLst/>
            <a:rect l="0" t="0" r="0" b="0"/>
            <a:pathLst>
              <a:path w="150" h="39">
                <a:moveTo>
                  <a:pt x="149" y="0"/>
                </a:moveTo>
                <a:lnTo>
                  <a:pt x="150" y="0"/>
                </a:lnTo>
                <a:lnTo>
                  <a:pt x="150" y="39"/>
                </a:lnTo>
                <a:lnTo>
                  <a:pt x="149" y="3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2009775" y="320040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体验内容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3030298" y="3124982"/>
            <a:ext cx="3599101" cy="33204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玩家不断地学习</a:t>
            </a:r>
            <a:r>
              <a:rPr lang="en-US" altLang="zh-CN" sz="1050" dirty="0">
                <a:latin typeface="Microsoft YaHei"/>
                <a:ea typeface="Microsoft YaHei"/>
              </a:rPr>
              <a:t>-</a:t>
            </a:r>
            <a:r>
              <a:rPr lang="zh-CN" altLang="en-US" sz="1050" dirty="0">
                <a:latin typeface="Microsoft YaHei"/>
                <a:ea typeface="Microsoft YaHei"/>
              </a:rPr>
              <a:t>总结</a:t>
            </a:r>
            <a:r>
              <a:rPr lang="en-US" altLang="zh-CN" sz="1050" dirty="0">
                <a:latin typeface="Microsoft YaHei"/>
                <a:ea typeface="Microsoft YaHei"/>
              </a:rPr>
              <a:t>-</a:t>
            </a:r>
            <a:r>
              <a:rPr lang="zh-CN" altLang="en-US" sz="1050" dirty="0">
                <a:latin typeface="Microsoft YaHei"/>
                <a:ea typeface="Microsoft YaHei"/>
              </a:rPr>
              <a:t>实践，并同时体验探索和战斗的乐趣，</a:t>
            </a:r>
            <a:endParaRPr lang="en-US" altLang="zh-CN" sz="1050" dirty="0">
              <a:latin typeface="Microsoft YaHei"/>
              <a:ea typeface="Microsoft YaHei"/>
            </a:endParaRPr>
          </a:p>
          <a:p>
            <a:pPr>
              <a:lnSpc>
                <a:spcPct val="100000"/>
              </a:lnSpc>
            </a:pPr>
            <a:r>
              <a:rPr lang="zh-CN" altLang="en-US" sz="1050" dirty="0">
                <a:latin typeface="Microsoft YaHei"/>
                <a:ea typeface="Microsoft YaHei"/>
              </a:rPr>
              <a:t> 并在箱庭式教堂探索相互交错的多层空间</a:t>
            </a:r>
            <a:endParaRPr lang="en-US" altLang="zh-CN" sz="1050" dirty="0">
              <a:latin typeface="Microsoft YaHei"/>
              <a:ea typeface="Microsoft YaHei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581150" y="3476625"/>
            <a:ext cx="1419225" cy="381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任意多边形: 形状 46"/>
          <p:cNvSpPr/>
          <p:nvPr/>
        </p:nvSpPr>
        <p:spPr>
          <a:xfrm>
            <a:off x="1581150" y="3476625"/>
            <a:ext cx="1428750" cy="381000"/>
          </a:xfrm>
          <a:custGeom>
            <a:avLst/>
            <a:gdLst/>
            <a:ahLst/>
            <a:cxnLst/>
            <a:rect l="0" t="0" r="0" b="0"/>
            <a:pathLst>
              <a:path w="150" h="40">
                <a:moveTo>
                  <a:pt x="149" y="0"/>
                </a:moveTo>
                <a:lnTo>
                  <a:pt x="150" y="0"/>
                </a:lnTo>
                <a:lnTo>
                  <a:pt x="150" y="40"/>
                </a:lnTo>
                <a:lnTo>
                  <a:pt x="149" y="4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2009775" y="358140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预计时长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4419600" y="3590925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latin typeface="Microsoft YaHei"/>
                <a:ea typeface="Microsoft YaHei"/>
              </a:rPr>
              <a:t>25-30</a:t>
            </a:r>
            <a:r>
              <a:rPr lang="zh-CN" altLang="en-US" sz="1050" dirty="0">
                <a:latin typeface="Microsoft YaHei"/>
                <a:ea typeface="Microsoft YaHei"/>
              </a:rPr>
              <a:t>分钟</a:t>
            </a:r>
            <a:endParaRPr dirty="0"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896100" y="800100"/>
            <a:ext cx="4762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 dirty="0">
                <a:solidFill>
                  <a:srgbClr val="1A1A1A"/>
                </a:solidFill>
                <a:latin typeface="Microsoft YaHei"/>
                <a:ea typeface="Microsoft YaHei"/>
              </a:rPr>
              <a:t>地图</a:t>
            </a:r>
            <a:r>
              <a:rPr lang="zh-CN" altLang="en-US" sz="1200" b="1" dirty="0">
                <a:solidFill>
                  <a:srgbClr val="1A1A1A"/>
                </a:solidFill>
                <a:latin typeface="Microsoft YaHei"/>
                <a:ea typeface="Microsoft YaHei"/>
              </a:rPr>
              <a:t>概览</a:t>
            </a:r>
            <a:endParaRPr dirty="0"/>
          </a:p>
        </p:txBody>
      </p:sp>
      <p:sp>
        <p:nvSpPr>
          <p:cNvPr id="51" name="矩形: 圆角 50"/>
          <p:cNvSpPr/>
          <p:nvPr/>
        </p:nvSpPr>
        <p:spPr>
          <a:xfrm>
            <a:off x="6896100" y="1066800"/>
            <a:ext cx="4762500" cy="2781300"/>
          </a:xfrm>
          <a:prstGeom prst="roundRect">
            <a:avLst>
              <a:gd name="adj" fmla="val 2740"/>
            </a:avLst>
          </a:prstGeom>
          <a:solidFill>
            <a:srgbClr val="FAFBFC"/>
          </a:solidFill>
          <a:ln w="25400">
            <a:solidFill>
              <a:srgbClr val="C4C9D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639175" y="2257425"/>
            <a:ext cx="1285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在此插入关卡总地图</a:t>
            </a:r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162925" y="2505075"/>
            <a:ext cx="2238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dirty="0">
                <a:solidFill>
                  <a:srgbClr val="C4C9D0"/>
                </a:solidFill>
                <a:latin typeface="Microsoft YaHei"/>
                <a:ea typeface="Microsoft YaHei"/>
              </a:rPr>
              <a:t>（俯视布局图</a:t>
            </a:r>
            <a:r>
              <a:rPr lang="en-US" sz="975" dirty="0">
                <a:solidFill>
                  <a:srgbClr val="C4C9D0"/>
                </a:solidFill>
                <a:latin typeface="Microsoft YaHei"/>
                <a:ea typeface="Microsoft YaHei"/>
              </a:rPr>
              <a:t> / </a:t>
            </a:r>
            <a:r>
              <a:rPr lang="zh-CN" sz="975" dirty="0">
                <a:solidFill>
                  <a:srgbClr val="C4C9D0"/>
                </a:solidFill>
                <a:latin typeface="Microsoft YaHei"/>
                <a:ea typeface="Microsoft YaHei"/>
              </a:rPr>
              <a:t>游戏内截图，可加图例）</a:t>
            </a:r>
            <a:endParaRPr dirty="0"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33400" y="4038600"/>
            <a:ext cx="11125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 dirty="0">
                <a:solidFill>
                  <a:srgbClr val="1A1A1A"/>
                </a:solidFill>
                <a:latin typeface="Microsoft YaHei"/>
                <a:ea typeface="Microsoft YaHei"/>
              </a:rPr>
              <a:t>关卡描述</a:t>
            </a:r>
            <a:endParaRPr dirty="0"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33400" y="4429125"/>
            <a:ext cx="11125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 dirty="0">
                <a:solidFill>
                  <a:srgbClr val="1A1A1A"/>
                </a:solidFill>
                <a:latin typeface="Microsoft YaHei"/>
                <a:ea typeface="Microsoft YaHei"/>
              </a:rPr>
              <a:t>剧情设定</a:t>
            </a:r>
            <a:endParaRPr dirty="0"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533400" y="4733924"/>
            <a:ext cx="11125200" cy="1662656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altLang="en-US" sz="1400" dirty="0">
                <a:latin typeface="Microsoft YaHei"/>
                <a:ea typeface="Microsoft YaHei"/>
              </a:rPr>
              <a:t>教堂是被主角封存在内心深处的记忆，主角曾在这座教堂因为一次过失丧失了自己的至亲，痛苦大到主角选择遗忘。而一位神识看破了主角的</a:t>
            </a:r>
            <a:endParaRPr lang="en-US" altLang="zh-CN" sz="1400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400" dirty="0">
                <a:latin typeface="Microsoft YaHei"/>
                <a:ea typeface="Microsoft YaHei"/>
              </a:rPr>
              <a:t>处境，主角通过神识赠与的道具回到了</a:t>
            </a:r>
            <a:r>
              <a:rPr lang="en-US" altLang="zh-CN" sz="1400" dirty="0">
                <a:latin typeface="Microsoft YaHei"/>
                <a:ea typeface="Microsoft YaHei"/>
              </a:rPr>
              <a:t>3</a:t>
            </a:r>
            <a:r>
              <a:rPr lang="zh-CN" altLang="en-US" sz="1400" dirty="0">
                <a:latin typeface="Microsoft YaHei"/>
                <a:ea typeface="Microsoft YaHei"/>
              </a:rPr>
              <a:t>年前，历经艰难险阻敲响巨钟。钟声里，被封存的完整回忆苏醒：那场丧失的全过程、主角逃走的那个</a:t>
            </a:r>
            <a:endParaRPr lang="en-US" altLang="zh-CN" sz="1400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400" dirty="0">
                <a:latin typeface="Microsoft YaHei"/>
                <a:ea typeface="Microsoft YaHei"/>
              </a:rPr>
              <a:t>下午、以及一直被“遗忘”的至亲的遗言。回忆被完整唤醒的同时，内心世界开始崩解</a:t>
            </a:r>
            <a:r>
              <a:rPr lang="en-US" altLang="zh-CN" sz="1400" dirty="0">
                <a:latin typeface="Microsoft YaHei"/>
                <a:ea typeface="Microsoft YaHei"/>
              </a:rPr>
              <a:t>——</a:t>
            </a:r>
            <a:r>
              <a:rPr lang="zh-CN" altLang="en-US" sz="1400" dirty="0">
                <a:latin typeface="Microsoft YaHei"/>
                <a:ea typeface="Microsoft YaHei"/>
              </a:rPr>
              <a:t>主角在现实中醒来，知晓真相的主角选择了和自己</a:t>
            </a:r>
            <a:endParaRPr lang="en-US" altLang="zh-CN" sz="1400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400" dirty="0">
                <a:latin typeface="Microsoft YaHei"/>
                <a:ea typeface="Microsoft YaHei"/>
              </a:rPr>
              <a:t>和解，完成对自己的救赎。</a:t>
            </a:r>
            <a:endParaRPr lang="zh-CN" altLang="en-US" sz="1400" dirty="0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D48A59A5-385C-4974-408D-B735B1489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701" y="1143000"/>
            <a:ext cx="4803298" cy="2593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Color: '#FFFFFF', padding: '36px 60px', fontFamily: &quot;'Microsoft YaHei', '微软雅黑', sans-serif&quot;, flexDirection: 'column' }}&gt;&#10;    {/* 关卡背景 */}&#10;    &lt;Box style={{ flexDirection: 'column', gap: 8 }}&gt;&#10;        &lt;Text style={{ fontSize: 28, fontWeight: 'bold', color: '#1A1A1A' }}&gt;关卡背景&lt;/Text&gt;&#10;        &lt;Text style={{ fontSize: 17, color: '#9CA3AF', lineHeight: 1.6 }}&gt;&#10;            【在此填写关卡的世界观与情境描述：玩家身处何处、发生了什么事件、&lt;br /&gt;玩家为何进入本关卡，2-3 行即可】&#10;        &lt;/Text&gt;&#10;    &lt;/Box&gt;&#10;&#10;    {/* 玩家目标 */}&#10;    &lt;Box style={{ flexDirection: 'column', gap: 8, marginTop: 22 }}&gt;&#10;        &lt;Text style={{ fontSize: 28, fontWeight: 'bold', color: '#1A1A1A' }}&gt;玩家目标&lt;/Text&gt;&#10;        &lt;Text style={{ fontSize: 17, color: '#9CA3AF', lineHeight: 1.6 }}&gt;&#10;            &lt;span style={{ color: '#1A1A1A', fontWeight: 'bold' }}&gt;主线：&lt;/span&gt;【填写主要目标：做什么、去哪里、达成什么条件】&lt;br /&gt;&#10;            &lt;span style={{ color: '#1A1A1A', fontWeight: 'bold' }}&gt;支线：&lt;/span&gt;【填写支线目标：可选任务、收集要素、隐藏内容】&#10;        &lt;/Text&gt;&#10;    &lt;/Box&gt;&#10;&#10;    {/* 关卡流程 */}&#10;    &lt;Box style={{ flexDirection: 'column', gap: 8, marginTop: 22 }}&gt;&#10;        &lt;Text style={{ fontSize: 28, fontWeight: 'bold', color: '#1A1A1A' }}&gt;关卡流程&lt;/Text&gt;&#10;        &lt;Box style={{ width: 1160, height: 320, border: '2px dashed #C4C9D0', borderRadius: 8, backgroundColor: '#FAFBFC', justifyContent: 'center', alignItems: 'center' }}&gt;&#10;            &lt;Text style={{ fontSize: 18, color: '#9CA3AF' }}&gt;&#10;                在此插入关卡流程图（drawio / 流程图导出图片，建议 16:9 或横向长图）&#10;            &lt;/Text&gt;&#10;            &lt;Text style={{ fontSize: 14, color: '#C4C9D0', marginTop: 10 }}&gt;&#10;                节点建议：区域 / 判断（菱形）/ 关键道具 / BOSS 战（红色标注）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-389467" y="-64545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571500" y="342900"/>
            <a:ext cx="11049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关卡背景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571500" y="742950"/>
            <a:ext cx="11049000" cy="628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altLang="en-US" sz="1275" dirty="0">
                <a:latin typeface="Microsoft YaHei"/>
                <a:ea typeface="Microsoft YaHei"/>
              </a:rPr>
              <a:t>主角通过一位神识赠予的道具回到三年前，主角前往回忆</a:t>
            </a:r>
            <a:endParaRPr lang="en-US" altLang="zh-CN" sz="1275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275" dirty="0">
                <a:latin typeface="Microsoft YaHei"/>
                <a:ea typeface="Microsoft YaHei"/>
              </a:rPr>
              <a:t>中的教堂并敲响最后的巨钟，钟声响起之后，主角在回忆</a:t>
            </a:r>
            <a:endParaRPr lang="en-US" altLang="zh-CN" sz="1275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275" dirty="0">
                <a:latin typeface="Microsoft YaHei"/>
                <a:ea typeface="Microsoft YaHei"/>
              </a:rPr>
              <a:t>起了来龙去脉之后完成了对自己的救赎</a:t>
            </a:r>
            <a:endParaRPr lang="zh-CN" altLang="en-US" dirty="0"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571500" y="1981200"/>
            <a:ext cx="11049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 dirty="0">
                <a:solidFill>
                  <a:srgbClr val="1A1A1A"/>
                </a:solidFill>
                <a:latin typeface="Microsoft YaHei"/>
                <a:ea typeface="Microsoft YaHei"/>
              </a:rPr>
              <a:t>玩家目标</a:t>
            </a:r>
            <a:endParaRPr dirty="0"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571500" y="2420208"/>
            <a:ext cx="11049000" cy="628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 b="1" dirty="0">
                <a:solidFill>
                  <a:srgbClr val="1A1A1A"/>
                </a:solidFill>
                <a:latin typeface="Microsoft YaHei"/>
                <a:ea typeface="Microsoft YaHei"/>
              </a:rPr>
              <a:t>主线：</a:t>
            </a:r>
            <a:r>
              <a:rPr lang="zh-CN" altLang="en-US" sz="1275" dirty="0">
                <a:latin typeface="Microsoft YaHei"/>
                <a:ea typeface="Microsoft YaHei"/>
              </a:rPr>
              <a:t>前往教堂顶部敲响巨钟</a:t>
            </a:r>
            <a:endParaRPr lang="en-US" altLang="zh-CN" sz="1275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r>
              <a:rPr lang="zh-CN" altLang="en-US" sz="1275" b="1" dirty="0">
                <a:latin typeface="Microsoft YaHei"/>
                <a:ea typeface="Microsoft YaHei"/>
              </a:rPr>
              <a:t>支线：</a:t>
            </a:r>
            <a:r>
              <a:rPr lang="zh-CN" altLang="en-US" sz="1275" dirty="0">
                <a:latin typeface="Microsoft YaHei"/>
                <a:ea typeface="Microsoft YaHei"/>
              </a:rPr>
              <a:t>探索教堂中各个区域，包括双门前瞭望塔，地下墓地等</a:t>
            </a:r>
            <a:endParaRPr lang="en-US" altLang="zh-CN" sz="1275" dirty="0">
              <a:latin typeface="Microsoft YaHei"/>
              <a:ea typeface="Microsoft YaHei"/>
            </a:endParaRPr>
          </a:p>
          <a:p>
            <a:pPr>
              <a:lnSpc>
                <a:spcPct val="160000"/>
              </a:lnSpc>
            </a:pPr>
            <a:endParaRPr lang="zh-CN" altLang="en-US" dirty="0"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71500" y="3746120"/>
            <a:ext cx="11049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 dirty="0">
                <a:solidFill>
                  <a:srgbClr val="1A1A1A"/>
                </a:solidFill>
                <a:latin typeface="Microsoft YaHei"/>
                <a:ea typeface="Microsoft YaHei"/>
              </a:rPr>
              <a:t>关卡流程</a:t>
            </a:r>
            <a:r>
              <a:rPr lang="zh-CN" altLang="en-US" sz="2100" b="1" dirty="0">
                <a:solidFill>
                  <a:srgbClr val="1A1A1A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100" dirty="0">
                <a:solidFill>
                  <a:srgbClr val="1A1A1A"/>
                </a:solidFill>
                <a:latin typeface="Microsoft YaHei"/>
                <a:ea typeface="Microsoft YaHei"/>
              </a:rPr>
              <a:t>如右图所示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172231-3C3F-3A10-1DE7-FB61FE31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067" y="103752"/>
            <a:ext cx="7335507" cy="64749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{&quot;isTemplate&quot;:true,&quot;type&quot;:&quot;text&quot;}">
            <a:extLst>
              <a:ext uri="{FF2B5EF4-FFF2-40B4-BE49-F238E27FC236}">
                <a16:creationId xmlns:a16="http://schemas.microsoft.com/office/drawing/2014/main" id="{29CAE899-4CCF-CA55-F801-8F56E4033086}"/>
              </a:ext>
            </a:extLst>
          </p:cNvPr>
          <p:cNvSpPr txBox="1"/>
          <p:nvPr/>
        </p:nvSpPr>
        <p:spPr>
          <a:xfrm>
            <a:off x="513443" y="619983"/>
            <a:ext cx="11049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100" b="1" dirty="0">
                <a:solidFill>
                  <a:srgbClr val="1A1A1A"/>
                </a:solidFill>
                <a:latin typeface="Microsoft YaHei"/>
                <a:ea typeface="Microsoft YaHei"/>
              </a:rPr>
              <a:t>节奏曲线：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47555D-CF15-6E2A-720D-FA102A68E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56" y="1057036"/>
            <a:ext cx="8533493" cy="527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22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547</Words>
  <Application>Microsoft Office PowerPoint</Application>
  <PresentationFormat>宽屏</PresentationFormat>
  <Paragraphs>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corn alley</cp:lastModifiedBy>
  <cp:revision>4</cp:revision>
  <dcterms:created xsi:type="dcterms:W3CDTF">2026-09-13T01:10:21Z</dcterms:created>
  <dcterms:modified xsi:type="dcterms:W3CDTF">2026-09-16T01:04:12Z</dcterms:modified>
</cp:coreProperties>
</file>